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-logo1.png"/><Relationship Id="rId5" Type="http://schemas.openxmlformats.org/officeDocument/2006/relationships/image" Target="../media/image-logo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731520"/>
            <a:ext cx="3840480" cy="384048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-411480"/>
            <a:ext cx="3200400" cy="32004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48640"/>
            <a:ext cx="640080" cy="6400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7150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ANALYST — GIZA_ISS6_S1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Architecture Lab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Dual-Site, Multi-VM Security Engineering Case Study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5440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Abdel-Nasser Rady   ·   Mohamed Mamdouh   ·   Donia Abd Elnasser Mohamed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Hoda Khaled Essam Eldin Mansour   ·   Ali Ashraf Ali Mehanna   ·   Mohamed Adel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Eng. Mohamed Seed</a:t>
            </a:r>
            <a:endParaRPr lang="en-US" sz="1250" dirty="0"/>
          </a:p>
        </p:txBody>
      </p:sp>
      <p:sp>
        <p:nvSpPr>
          <p:cNvPr id="12" name="Logo Card"/>
          <p:cNvSpPr/>
          <p:nvPr/>
        </p:nvSpPr>
        <p:spPr>
          <a:xfrm>
            <a:off x="8625840" y="36576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3" name="Logo Rowad" descr="log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650" y="548640"/>
            <a:ext cx="944800" cy="640080"/>
          </a:xfrm>
          <a:prstGeom prst="rect">
            <a:avLst/>
          </a:prstGeom>
        </p:spPr>
      </p:pic>
      <p:pic>
        <p:nvPicPr>
          <p:cNvPr id="14" name="Logo MCIT" descr="log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1330" y="548640"/>
            <a:ext cx="11371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50592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25603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289864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Proposal, plan, team roles &amp; KPIs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31" y="20509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21224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25603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289864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theory &amp; literature review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9904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18504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63" y="20509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91856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91072" y="25603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91072" y="289864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use cases, FRs / NFRs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60536" y="16916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89136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895" y="205099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62488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061704" y="25603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061704" y="289864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VMs, VLANs, segmentation &amp; firewall policy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450592" y="4050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749808" y="47548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49808" y="509320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· Traefik · Authelia (3 layers)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319272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547872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8631" y="4245559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21224" y="4050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3520440" y="47548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SIEM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3520440" y="509320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pipeline, noise reduction, enrichment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089904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318504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9263" y="4245559"/>
            <a:ext cx="241402" cy="24140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991856" y="4050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6291072" y="47548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6291072" y="509320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Kill-chain &amp; MITRE ATT&amp;CK mapping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8860536" y="38862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089136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895" y="4245559"/>
            <a:ext cx="241402" cy="24140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762488" y="4050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0"/>
          <p:cNvSpPr/>
          <p:nvPr/>
        </p:nvSpPr>
        <p:spPr>
          <a:xfrm>
            <a:off x="9061704" y="475488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Results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9061704" y="5093208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metrics, lessons, what's next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PLANNING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Proposal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Trust Architecture (ZTA) security lab spanning two physical machines and eight virtual machines, built around NIST SP 800-207. No device or user is trusted based on network location alone — every access request is authenticated, authorized, and logged regardless of origin.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600200"/>
            <a:ext cx="502920" cy="50292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27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581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 Access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 · Traefik · Authelia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2468880"/>
            <a:ext cx="502920" cy="50292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279" y="25996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0" y="2450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22960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VLANs enforced by pfSense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589520" y="3337560"/>
            <a:ext cx="502920" cy="50292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279" y="346831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0" y="33192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Engineering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229600" y="3611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Splunk pipeline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589520" y="4206240"/>
            <a:ext cx="502920" cy="50292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279" y="433699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0" y="4187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2960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rules mapped to MITRE ATT&amp;CK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— Four Phases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48640" y="388620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0B1B33"/>
          </a:solidFill>
          <a:ln/>
        </p:spPr>
      </p:sp>
      <p:sp>
        <p:nvSpPr>
          <p:cNvPr id="23" name="Text 17"/>
          <p:cNvSpPr/>
          <p:nvPr/>
        </p:nvSpPr>
        <p:spPr>
          <a:xfrm>
            <a:off x="713232" y="402336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3232" y="4306824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Setup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13232" y="48463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pfSense, Suricata, 8 VMs, VLAN tagging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227832" y="4526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B5AE"/>
                </a:solidFill>
              </a:rPr>
              <a:t>&gt;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3383280" y="388620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84A"/>
          </a:solidFill>
          <a:ln/>
        </p:spPr>
      </p:sp>
      <p:sp>
        <p:nvSpPr>
          <p:cNvPr id="28" name="Text 22"/>
          <p:cNvSpPr/>
          <p:nvPr/>
        </p:nvSpPr>
        <p:spPr>
          <a:xfrm>
            <a:off x="3547872" y="402336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547872" y="4306824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3547872" y="48463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Traefik, Authelia, cloudflared tunnel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062472" y="4526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B5AE"/>
                </a:solidFill>
              </a:rPr>
              <a:t>&gt;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6217920" y="388620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0B1B33"/>
          </a:solidFill>
          <a:ln/>
        </p:spPr>
      </p:sp>
      <p:sp>
        <p:nvSpPr>
          <p:cNvPr id="33" name="Text 27"/>
          <p:cNvSpPr/>
          <p:nvPr/>
        </p:nvSpPr>
        <p:spPr>
          <a:xfrm>
            <a:off x="6382512" y="402336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382512" y="4306824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Pipeline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382512" y="48463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both sites, IPsec tunnel, Splunk HEC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8897112" y="4526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B5AE"/>
                </a:solidFill>
              </a:rPr>
              <a:t>&gt;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9052560" y="388620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84A"/>
          </a:solidFill>
          <a:ln/>
        </p:spPr>
      </p:sp>
      <p:sp>
        <p:nvSpPr>
          <p:cNvPr id="38" name="Text 32"/>
          <p:cNvSpPr/>
          <p:nvPr/>
        </p:nvSpPr>
        <p:spPr>
          <a:xfrm>
            <a:off x="9217152" y="402336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9217152" y="4306824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Validation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217152" y="48463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rules, kill-chain script, testing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PLANNING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 &amp; Key Performance Indicators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6-Member Engineering Team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Segmentation — pfSense, VLAN design, IPsec, firewall policy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— Traefik routing, Authelia MFA, Cloudflare WAF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Engineering — Vector pipeline design, Splunk HEC integration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 — SPL rules, MITRE ATT&amp;CK mapping, SOC dashboard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 — Kali kill-chain script &amp; attack documentation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Validation — Architecture docs, screenshots, results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1060704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6345936" y="2075688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layers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4224" y="2496312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access enforcement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7479792" y="1965960"/>
            <a:ext cx="1060704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7516368" y="2075688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34656" y="2496312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volume reduction via filtering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8650224" y="1965960"/>
            <a:ext cx="1060704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075688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05088" y="2496312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integrated into Splunk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9820656" y="1965960"/>
            <a:ext cx="1060704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9857232" y="2075688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0" y="2496312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techniques covered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10991088" y="1965960"/>
            <a:ext cx="1060704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11027664" y="2075688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5952" y="2496312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detection rules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6309360" y="32461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0B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device-posture enforcement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657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a non-permitted country or unenrolled device is rejected at the edge — confirmed: HTTP 403 returned before reaching Traefik.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48463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Cross-VLAN containment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512064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zone (VLAN 40) blocked from management &amp; services zones — confirmed in functional validation (connection timeout).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935785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800-207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tenets: no implicit trust, per-session access, dynamic policy, continuous monitoring.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70832" y="16459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1828800"/>
            <a:ext cx="411480" cy="4114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697" y="1935785"/>
            <a:ext cx="197510" cy="1975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4064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/ PEP Model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53712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 Access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53712" y="2651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Access = outer PDP; Traefik = PEP; Authelia = session-level MFA.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93024" y="16459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1828800"/>
            <a:ext cx="411480" cy="4114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889" y="1935785"/>
            <a:ext cx="197510" cy="1975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06256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Zones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75904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75904" y="2651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VLAN-based segmentation, deny-by-default with allow-by-exception via pfSense.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86791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050792"/>
            <a:ext cx="411480" cy="4114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5" y="4157777"/>
            <a:ext cx="197510" cy="19751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61872" y="4050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Quality &gt; Volume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31520" y="4581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31520" y="487375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low-value events obscure signal; Vector filters before Splunk ingestion.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70832" y="386791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53712" y="4050792"/>
            <a:ext cx="411480" cy="4114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697" y="4157777"/>
            <a:ext cx="197510" cy="19751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84064" y="4050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Detection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53712" y="4581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53712" y="487375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detection rules around observable adversary TTPs, not raw signatures.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93024" y="3867912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5904" y="4050792"/>
            <a:ext cx="411480" cy="41148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889" y="4157777"/>
            <a:ext cx="197510" cy="19751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06256" y="4050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+ auditd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8375904" y="4581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(NIDS/HIDS)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8375904" y="487375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on pfSense (NIDS); auditd on appserver-vm (HIDS, syscall-level).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&amp; Key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105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19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Primary Actors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49424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21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User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access via public internet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2816352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6883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2944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from isolated VLAN 40 / external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3383280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255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3511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SIEM, reviews detections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0624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Flow (selected)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06240" y="20116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1E8E5A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201168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83480" y="202082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user authenticates via TOTP, accesses protected app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06240" y="2542032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4206240" y="254203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83480" y="2551176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Non-permitted country blocked at Cloudflare edge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3072384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</p:sp>
      <p:sp>
        <p:nvSpPr>
          <p:cNvPr id="24" name="Text 21"/>
          <p:cNvSpPr/>
          <p:nvPr/>
        </p:nvSpPr>
        <p:spPr>
          <a:xfrm>
            <a:off x="4206240" y="307238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983480" y="308152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recon scan from VLAN 40 → Suricata detects, Splunk alerts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06240" y="3602736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4206240" y="360273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83480" y="361188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brute-force vs appserver-vm → Vector enriches → Rule 1 fires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4133088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</p:sp>
      <p:sp>
        <p:nvSpPr>
          <p:cNvPr id="30" name="Text 27"/>
          <p:cNvSpPr/>
          <p:nvPr/>
        </p:nvSpPr>
        <p:spPr>
          <a:xfrm>
            <a:off x="4206240" y="413308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983480" y="414223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escalates via sudo → auditd captures → kill-chain fires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206240" y="466344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</p:sp>
      <p:sp>
        <p:nvSpPr>
          <p:cNvPr id="33" name="Text 30"/>
          <p:cNvSpPr/>
          <p:nvPr/>
        </p:nvSpPr>
        <p:spPr>
          <a:xfrm>
            <a:off x="4206240" y="46634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UC-06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983480" y="467258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reaches toward SIEM (VLAN10) → pfSense blocks &amp; logs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5193792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1E8E5A"/>
          </a:solidFill>
          <a:ln/>
        </p:spPr>
      </p:sp>
      <p:sp>
        <p:nvSpPr>
          <p:cNvPr id="36" name="Text 33"/>
          <p:cNvSpPr/>
          <p:nvPr/>
        </p:nvSpPr>
        <p:spPr>
          <a:xfrm>
            <a:off x="4206240" y="519379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UC-07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983480" y="5202936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SOC dashboard, confirms pipeline end-to-end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Functional Requirements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577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requests pass identity, geo &amp; device-posture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route enforces MFA via Authelia TOTP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from all 7 sources filtered, enriched, delivered to Splunk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40 blocked from reaching VLAN 10 / VLAN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SSH brute force, privesc, scanning, lateral movement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0" y="192024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97510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0" y="197510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component grants access based on network position alone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0" y="269748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7523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275234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delivery survives restarts; IPsec rekey automatic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0" y="347472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5295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01000" y="352958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reduces log volume ≥80% before enrichment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0" y="425196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430682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01000" y="430682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 decision &amp; block produces a structured log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Infrastructure &amp; VM Inventory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physical Windows 11 hosts running VirtualBox, connected over a home network. Each hosts a pfSense 2.7 firewall with Suricata IDS, bridged by an IKEv2 IPsec tunnel (AES-CBC 256, HMAC-SHA2-256, MODP-2048).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46888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VLAN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pfSense-D1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· Trunk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 / .20.1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Firewall, IPsec, Suricata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siem-vm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· VLAN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SIEM, Vector 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services-vm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· VLAN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Traefik, Authelia, cloudflared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pfSense-D2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· Trunk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 / .40.1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Firewall, IPsec, Suricata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appserver-vm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· VLAN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DVWA app server, auditd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user-vm-1 /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· VLAN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192.168.30.10 / 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user workstations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collector-vm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· VLAN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D2 log aggregator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kali-vm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· VLAN 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attack simulation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Network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6380" y="1463040"/>
            <a:ext cx="8536193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imgs/topolog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540" y="1600200"/>
            <a:ext cx="8261873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Segmentation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81484" y="1417320"/>
            <a:ext cx="8625984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mgs/segment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2924" y="1508760"/>
            <a:ext cx="8443104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Policy Between Zones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Default-deny, allow-by-exception — every flow not listed here is silently dropped by pfSense.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 → Any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06654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066544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full network reach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2057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→ VLAN 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76872" y="206654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6976872" y="2066544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07992" y="25603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routes to Splunk backend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9202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84464" y="2057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 → VLAN 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53344" y="206654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8" name="Text 16"/>
          <p:cNvSpPr/>
          <p:nvPr/>
        </p:nvSpPr>
        <p:spPr>
          <a:xfrm>
            <a:off x="10753344" y="2066544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84464" y="25603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forwarding via HEC over IPsec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021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639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→ VLAN 10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364845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64845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1422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zone restricted from SIEM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5112" y="35021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07992" y="3639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→ VLAN 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76872" y="364845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976872" y="364845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07992" y="41422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from access enforcement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35021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84464" y="3639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→ VLAN 30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53344" y="364845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33" name="Text 31"/>
          <p:cNvSpPr/>
          <p:nvPr/>
        </p:nvSpPr>
        <p:spPr>
          <a:xfrm>
            <a:off x="10753344" y="364845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84464" y="41422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 for attack simulation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ACCESS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Enforcement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at any single layer terminates the request — no single point of bypass.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3948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allowlist, geo-restriction (Egypt only), WARP device posture, 4 custom WAF rules, rate limiting 30 req/10s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69664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B5AE"/>
                </a:solidFill>
              </a:rPr>
              <a:t>&gt;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0B1B33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2240280"/>
            <a:ext cx="594360" cy="59436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254" y="239481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971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1772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Reverse Proxy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7720" y="3794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Point. forwardAuth middleware on every route; file-based provider for stability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964424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B5AE"/>
                </a:solidFill>
              </a:rPr>
              <a:t>&gt;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8138160" y="196596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/>
        </p:spPr>
      </p:sp>
      <p:sp>
        <p:nvSpPr>
          <p:cNvPr id="20" name="Shape 16"/>
          <p:cNvSpPr/>
          <p:nvPr/>
        </p:nvSpPr>
        <p:spPr>
          <a:xfrm>
            <a:off x="841248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014" y="239481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971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1248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Authelia MFA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12480" y="3794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required, 8h max session, 30min inactivity timeout, 3 fails → 30min lockout, default deny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ACCESS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Session Lifecycle</a:t>
            </a:r>
            <a:endParaRPr lang="en-US" sz="3000" dirty="0"/>
          </a:p>
        </p:txBody>
      </p:sp>
      <p:pic>
        <p:nvPicPr>
          <p:cNvPr id="4" name="Image 0" descr="imgs/authlifecyc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7510" y="1417320"/>
            <a:ext cx="6673932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57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Authelia Parameters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6052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MFA method: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46120" y="56052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Session max: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56052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Inactivity timeout: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56052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Lockout: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fails / 2 min → 30 min ban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TELEMETRY &amp; SIEM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Collection &amp; Enrichment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328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1B3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424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Collect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sources: syslog, auditd, pfSense filterlog, Suricata EVE JSON, journald, Docker, Authelia audit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136392" y="297180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</a:rPr>
              <a:t>&gt;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37560" y="17830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3284A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2011680"/>
            <a:ext cx="502920" cy="502920"/>
          </a:xfrm>
          <a:prstGeom prst="ellipse">
            <a:avLst/>
          </a:prstGeom>
          <a:solidFill>
            <a:srgbClr val="0B1B3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19" y="2142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Filter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3063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CRON, apt/dpkg, NTP sync, NetworkManager, snapd noise — 85% volume reduction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925312" y="297180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</a:rPr>
              <a:t>&gt;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26480" y="17830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3284A"/>
          </a:solidFill>
          <a:ln/>
        </p:spPr>
      </p:sp>
      <p:sp>
        <p:nvSpPr>
          <p:cNvPr id="17" name="Shape 13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0B1B3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214243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Enrich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55080" y="3063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structured fields: auth_event, ssh.src_ip, sudo.cmd, alert_sig, firewall.action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714232" y="297180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B5AE"/>
                </a:solidFill>
              </a:rPr>
              <a:t>&gt;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915400" y="17830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3284A"/>
          </a:solidFill>
          <a:ln/>
        </p:spPr>
      </p:sp>
      <p:sp>
        <p:nvSpPr>
          <p:cNvPr id="23" name="Shape 18"/>
          <p:cNvSpPr/>
          <p:nvPr/>
        </p:nvSpPr>
        <p:spPr>
          <a:xfrm>
            <a:off x="9144000" y="2011680"/>
            <a:ext cx="502920" cy="502920"/>
          </a:xfrm>
          <a:prstGeom prst="ellipse">
            <a:avLst/>
          </a:prstGeom>
          <a:solidFill>
            <a:srgbClr val="0B1B3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759" y="214243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Deliver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44000" y="3063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D1 + D2 → Splunk HEC (TCP 8088), D2 traffic over encrypted IPsec tunnel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48640" y="4800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548640" y="5349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246120" y="4800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3246120" y="5349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fields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943600" y="4800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600" dirty="0"/>
          </a:p>
        </p:txBody>
      </p:sp>
      <p:sp>
        <p:nvSpPr>
          <p:cNvPr id="32" name="Text 26"/>
          <p:cNvSpPr/>
          <p:nvPr/>
        </p:nvSpPr>
        <p:spPr>
          <a:xfrm>
            <a:off x="5943600" y="5349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reduced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641080" y="4800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500MB/day</a:t>
            </a:r>
            <a:endParaRPr lang="en-US" sz="2600" dirty="0"/>
          </a:p>
        </p:txBody>
      </p:sp>
      <p:sp>
        <p:nvSpPr>
          <p:cNvPr id="34" name="Text 28"/>
          <p:cNvSpPr/>
          <p:nvPr/>
        </p:nvSpPr>
        <p:spPr>
          <a:xfrm>
            <a:off x="8641080" y="5349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Free cap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TELEMETRY &amp; SIEM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Cross-Site Log Delivery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data from Device 2 is transmitted to Splunk on Device 1 exclusively over the IKEv2 IPsec tunnel — keeping log delivery isolated from application traffic and off any unencrypted path.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0" y="26060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B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AES-CBC (256-bit)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B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HMAC-SHA2-256-128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3794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B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PRF-HMAC-SHA2-256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6583680" cy="50292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89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4389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B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MODP-2048 (DH Group 14)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0" y="155448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0B1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1828800"/>
            <a:ext cx="640080" cy="6400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4541" y="1995221"/>
            <a:ext cx="307238" cy="30723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6809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Phase 2 Established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8096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Status confirms live tunnel traffic with active byte/packet counters on both sites.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680960" y="3886200"/>
            <a:ext cx="3657600" cy="0"/>
          </a:xfrm>
          <a:prstGeom prst="line">
            <a:avLst/>
          </a:prstGeom>
          <a:noFill/>
          <a:ln w="12700">
            <a:solidFill>
              <a:srgbClr val="1328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680960" y="4297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log traffic from traversing an unencrypted path; isolates delivery from application traffic between sites.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ATTACK SIMULATION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Multi-Phase Kill-Chain (full_killchain.sh)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from kali-vm (192.168.40.10) against authorized targets in VLAN 30 — producing real traffic that exercises the full detection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0B1B33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93776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00784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13284A"/>
          </a:solidFill>
          <a:ln/>
        </p:spPr>
      </p:sp>
      <p:sp>
        <p:nvSpPr>
          <p:cNvPr id="12" name="Text 10"/>
          <p:cNvSpPr/>
          <p:nvPr/>
        </p:nvSpPr>
        <p:spPr>
          <a:xfrm>
            <a:off x="1755648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55648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Fingerprint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nikto / gobuster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55648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T1592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62656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0B1B33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17520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T1110.001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24528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13284A"/>
          </a:solidFill>
          <a:ln/>
        </p:spPr>
      </p:sp>
      <p:sp>
        <p:nvSpPr>
          <p:cNvPr id="24" name="Text 22"/>
          <p:cNvSpPr/>
          <p:nvPr/>
        </p:nvSpPr>
        <p:spPr>
          <a:xfrm>
            <a:off x="4279392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79392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79392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sqlmap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79392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28" name="Text 26"/>
          <p:cNvSpPr/>
          <p:nvPr/>
        </p:nvSpPr>
        <p:spPr>
          <a:xfrm>
            <a:off x="4279392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0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0B1B33"/>
          </a:solidFill>
          <a:ln/>
        </p:spPr>
      </p:sp>
      <p:sp>
        <p:nvSpPr>
          <p:cNvPr id="30" name="Text 28"/>
          <p:cNvSpPr/>
          <p:nvPr/>
        </p:nvSpPr>
        <p:spPr>
          <a:xfrm>
            <a:off x="5541264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41264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41264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alice@...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541264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34" name="Text 32"/>
          <p:cNvSpPr/>
          <p:nvPr/>
        </p:nvSpPr>
        <p:spPr>
          <a:xfrm>
            <a:off x="5541264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48272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13284A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03136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03136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803136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40" name="Text 38"/>
          <p:cNvSpPr/>
          <p:nvPr/>
        </p:nvSpPr>
        <p:spPr>
          <a:xfrm>
            <a:off x="6803136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T1548.003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010144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0B1B33"/>
          </a:solidFill>
          <a:ln/>
        </p:spPr>
      </p:sp>
      <p:sp>
        <p:nvSpPr>
          <p:cNvPr id="42" name="Text 40"/>
          <p:cNvSpPr/>
          <p:nvPr/>
        </p:nvSpPr>
        <p:spPr>
          <a:xfrm>
            <a:off x="8065008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65008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65008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systemd backdoor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065008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46" name="Text 44"/>
          <p:cNvSpPr/>
          <p:nvPr/>
        </p:nvSpPr>
        <p:spPr>
          <a:xfrm>
            <a:off x="8065008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T1543.002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272016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13284A"/>
          </a:solidFill>
          <a:ln/>
        </p:spPr>
      </p:sp>
      <p:sp>
        <p:nvSpPr>
          <p:cNvPr id="48" name="Text 46"/>
          <p:cNvSpPr/>
          <p:nvPr/>
        </p:nvSpPr>
        <p:spPr>
          <a:xfrm>
            <a:off x="9326880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26880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326880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/etc/shadow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326880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T1003.008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0533888" y="2148840"/>
            <a:ext cx="1216152" cy="2286000"/>
          </a:xfrm>
          <a:prstGeom prst="roundRect">
            <a:avLst>
              <a:gd name="adj" fmla="val 4511"/>
            </a:avLst>
          </a:prstGeom>
          <a:solidFill>
            <a:srgbClr val="0B1B33"/>
          </a:solidFill>
          <a:ln/>
        </p:spPr>
      </p:sp>
      <p:sp>
        <p:nvSpPr>
          <p:cNvPr id="54" name="Text 52"/>
          <p:cNvSpPr/>
          <p:nvPr/>
        </p:nvSpPr>
        <p:spPr>
          <a:xfrm>
            <a:off x="10588752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588752" y="2514600"/>
            <a:ext cx="11064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588752" y="3337560"/>
            <a:ext cx="1106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unset HISTFILE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588752" y="4023360"/>
            <a:ext cx="1106424" cy="310896"/>
          </a:xfrm>
          <a:prstGeom prst="roundRect">
            <a:avLst>
              <a:gd name="adj" fmla="val 11765"/>
            </a:avLst>
          </a:prstGeom>
          <a:solidFill>
            <a:srgbClr val="0FB5AE"/>
          </a:solidFill>
          <a:ln/>
        </p:spPr>
      </p:sp>
      <p:sp>
        <p:nvSpPr>
          <p:cNvPr id="58" name="Text 56"/>
          <p:cNvSpPr/>
          <p:nvPr/>
        </p:nvSpPr>
        <p:spPr>
          <a:xfrm>
            <a:off x="10588752" y="402336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T1070.003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</p:spPr>
      </p:sp>
      <p:sp>
        <p:nvSpPr>
          <p:cNvPr id="60" name="Shape 58"/>
          <p:cNvSpPr/>
          <p:nvPr/>
        </p:nvSpPr>
        <p:spPr>
          <a:xfrm>
            <a:off x="777240" y="49560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5086807"/>
            <a:ext cx="241402" cy="241402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1463040" y="49377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MITRE ATT&amp;CK techniques mapped end-to-end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1463040" y="52303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initial reconnaissance (T1046) through persistence (T1543.002) to indicator removal (T1070.003) — exercising every layer of the detection pipeline.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ATTACK SIMULATION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Engineering — Example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928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T1110.001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failed SSH attempts per source IP/host over 10-min window. Fire ≥5, escalate CRITICAL ≥20.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4663440"/>
            <a:ext cx="3154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8006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Splunk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77,594 events observed from 192.168.40.10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8928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1671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Sudo Execution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697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T1548.003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31546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on any sudo execution where target user is root. Enriched with sudo.cmd for analyst review.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4663440"/>
            <a:ext cx="3154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8006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Splunk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50292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escalated to root → systemd backdoor created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66760" y="18928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6760" y="21671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Policy Violation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66760" y="31546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HTTP 403 from custom geo WAF expression; correlate source country vs. allowlist.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66760" y="4663440"/>
            <a:ext cx="3154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48006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Splunk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50292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access attempt blocked at Cloudflare edge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· SECURITY OPERATIONS CENTER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228600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Live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45059" y="612648"/>
            <a:ext cx="9298834" cy="4718304"/>
          </a:xfrm>
          <a:prstGeom prst="roundRect">
            <a:avLst>
              <a:gd name="adj" fmla="val 9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50800" dir="16200000">
              <a:srgbClr val="0FB5AE">
                <a:alpha val="35000"/>
              </a:srgbClr>
            </a:outerShdw>
          </a:effectLst>
        </p:spPr>
      </p:sp>
      <p:pic>
        <p:nvPicPr>
          <p:cNvPr id="5" name="Image 0" descr="imgs/so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787" y="685800"/>
            <a:ext cx="9079378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5440680"/>
            <a:ext cx="2626614" cy="804672"/>
          </a:xfrm>
          <a:prstGeom prst="roundRect">
            <a:avLst>
              <a:gd name="adj" fmla="val 6818"/>
            </a:avLst>
          </a:prstGeom>
          <a:solidFill>
            <a:srgbClr val="13284A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5495544"/>
            <a:ext cx="262661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104,584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1792" y="5879592"/>
            <a:ext cx="26266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24h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94710" y="5440680"/>
            <a:ext cx="2626614" cy="804672"/>
          </a:xfrm>
          <a:prstGeom prst="roundRect">
            <a:avLst>
              <a:gd name="adj" fmla="val 6818"/>
            </a:avLst>
          </a:prstGeom>
          <a:solidFill>
            <a:srgbClr val="13284A"/>
          </a:solidFill>
          <a:ln/>
        </p:spPr>
      </p:sp>
      <p:sp>
        <p:nvSpPr>
          <p:cNvPr id="10" name="Text 7"/>
          <p:cNvSpPr/>
          <p:nvPr/>
        </p:nvSpPr>
        <p:spPr>
          <a:xfrm>
            <a:off x="3394710" y="5495544"/>
            <a:ext cx="262661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94710" y="5879592"/>
            <a:ext cx="26266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Failures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67628" y="5440680"/>
            <a:ext cx="2626614" cy="804672"/>
          </a:xfrm>
          <a:prstGeom prst="roundRect">
            <a:avLst>
              <a:gd name="adj" fmla="val 6818"/>
            </a:avLst>
          </a:prstGeom>
          <a:solidFill>
            <a:srgbClr val="13284A"/>
          </a:solidFill>
          <a:ln/>
        </p:spPr>
      </p:sp>
      <p:sp>
        <p:nvSpPr>
          <p:cNvPr id="13" name="Text 10"/>
          <p:cNvSpPr/>
          <p:nvPr/>
        </p:nvSpPr>
        <p:spPr>
          <a:xfrm>
            <a:off x="6167628" y="5495544"/>
            <a:ext cx="262661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67628" y="5879592"/>
            <a:ext cx="26266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 Alerts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40546" y="5440680"/>
            <a:ext cx="2626614" cy="804672"/>
          </a:xfrm>
          <a:prstGeom prst="roundRect">
            <a:avLst>
              <a:gd name="adj" fmla="val 6818"/>
            </a:avLst>
          </a:prstGeom>
          <a:solidFill>
            <a:srgbClr val="13284A"/>
          </a:solidFill>
          <a:ln/>
        </p:spPr>
      </p:sp>
      <p:sp>
        <p:nvSpPr>
          <p:cNvPr id="16" name="Text 13"/>
          <p:cNvSpPr/>
          <p:nvPr/>
        </p:nvSpPr>
        <p:spPr>
          <a:xfrm>
            <a:off x="8940546" y="5495544"/>
            <a:ext cx="262661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10,105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940546" y="5879592"/>
            <a:ext cx="26266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Blocks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traefi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476" y="2050000"/>
            <a:ext cx="8700000" cy="4350000"/>
          </a:xfrm>
          <a:prstGeom prst="rect">
            <a:avLst/>
          </a:prstGeom>
          <a:ln w="12700">
            <a:solidFill>
              <a:srgbClr val="2A3A5C"/>
            </a:solidFill>
          </a:ln>
        </p:spPr>
      </p:pic>
      <p:sp>
        <p:nvSpPr>
          <p:cNvPr id="4" name="Text 1"/>
          <p:cNvSpPr/>
          <p:nvPr/>
        </p:nvSpPr>
        <p:spPr>
          <a:xfrm>
            <a:off x="640080" y="27432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effectLst>
                  <a:outerShdw blurRad="50800" dist="25400" dir="5400000" rotWithShape="0">
                    <a:srgbClr val="000000">
                      <a:alpha val="70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POLICY ENFORCEMENT POINT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31520"/>
            <a:ext cx="72000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effectLst>
                  <a:outerShdw blurRad="90000" dist="38100" dir="5400000" rotWithShape="0">
                    <a:srgbClr val="000000">
                      <a:alpha val="75000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Traefik Reverse Proxy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400800" cy="475488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5544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Routers · 7 Services · 4 Middlewares · 100% success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tot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7569" y="2050000"/>
            <a:ext cx="4153815" cy="4350000"/>
          </a:xfrm>
          <a:prstGeom prst="rect">
            <a:avLst/>
          </a:prstGeom>
          <a:ln w="12700">
            <a:solidFill>
              <a:srgbClr val="2A3A5C"/>
            </a:solidFill>
          </a:ln>
        </p:spPr>
      </p:pic>
      <p:sp>
        <p:nvSpPr>
          <p:cNvPr id="4" name="Text 1"/>
          <p:cNvSpPr/>
          <p:nvPr/>
        </p:nvSpPr>
        <p:spPr>
          <a:xfrm>
            <a:off x="640080" y="27432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effectLst>
                  <a:outerShdw blurRad="50800" dist="25400" dir="5400000" rotWithShape="0">
                    <a:srgbClr val="000000">
                      <a:alpha val="70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MULTI-FACTOR AUTHENTICATION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31520"/>
            <a:ext cx="72000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effectLst>
                  <a:outerShdw blurRad="90000" dist="38100" dir="5400000" rotWithShape="0">
                    <a:srgbClr val="000000">
                      <a:alpha val="75000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Authelia TOTP Prompt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400800" cy="475488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5544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granted only after valid TOTP code — user 'karim'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s/geob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064" y="2050000"/>
            <a:ext cx="8670825" cy="4350000"/>
          </a:xfrm>
          <a:prstGeom prst="rect">
            <a:avLst/>
          </a:prstGeom>
          <a:ln w="12700">
            <a:solidFill>
              <a:srgbClr val="2A3A5C"/>
            </a:solidFill>
          </a:ln>
        </p:spPr>
      </p:pic>
      <p:sp>
        <p:nvSpPr>
          <p:cNvPr id="4" name="Text 1"/>
          <p:cNvSpPr/>
          <p:nvPr/>
        </p:nvSpPr>
        <p:spPr>
          <a:xfrm>
            <a:off x="640080" y="27432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5AE"/>
                </a:solidFill>
                <a:effectLst>
                  <a:outerShdw blurRad="50800" dist="25400" dir="5400000" rotWithShape="0">
                    <a:srgbClr val="000000">
                      <a:alpha val="70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EDGE ACCESS POLICY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31520"/>
            <a:ext cx="72000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effectLst>
                  <a:outerShdw blurRad="90000" dist="38100" dir="5400000" rotWithShape="0">
                    <a:srgbClr val="000000">
                      <a:alpha val="75000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Geo-Restriction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400800" cy="475488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5544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France → HTTP 403 before reaching the tunnel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Validation — 7 / 7 Passed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28" y="2051548"/>
            <a:ext cx="158008" cy="158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9476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→ siem-vm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49040" y="19476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timed out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28" y="2490460"/>
            <a:ext cx="158008" cy="1580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23865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access, no WARP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749040" y="238658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2843784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8" y="2929372"/>
            <a:ext cx="158008" cy="1580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282549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outside Egypt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749040" y="282549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block page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282696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28" y="3368284"/>
            <a:ext cx="158008" cy="1580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552" y="32644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Authelia login, no valid TOTP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3749040" y="32644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refused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721608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28" y="3807196"/>
            <a:ext cx="158008" cy="1580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7552" y="37033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w/ no Authelia policy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749040" y="37033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from Traefik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3093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Scenarios — 7 / 7 Confirmed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309360" y="1965960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948" y="2051548"/>
            <a:ext cx="158008" cy="1580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48272" y="19476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VLAN10 from VLAN40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9509760" y="19476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ports filtered; deny logged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309360" y="2404872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948" y="2490460"/>
            <a:ext cx="158008" cy="1580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48272" y="23865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SSH brute force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9509760" y="238658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fired as expected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6309360" y="2843784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4948" y="2929372"/>
            <a:ext cx="158008" cy="1580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48272" y="282549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via external domain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9509760" y="282549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edge — HTTP 403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309360" y="3282696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4948" y="3368284"/>
            <a:ext cx="158008" cy="15800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748272" y="32644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failed TOTP</a:t>
            </a:r>
            <a:endParaRPr lang="en-US" sz="1050" dirty="0"/>
          </a:p>
        </p:txBody>
      </p:sp>
      <p:sp>
        <p:nvSpPr>
          <p:cNvPr id="41" name="Text 30"/>
          <p:cNvSpPr/>
          <p:nvPr/>
        </p:nvSpPr>
        <p:spPr>
          <a:xfrm>
            <a:off x="9509760" y="32644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locked, 30-min ban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6309360" y="3721608"/>
            <a:ext cx="329184" cy="329184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4948" y="3807196"/>
            <a:ext cx="158008" cy="15800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748272" y="37033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backdoor creation</a:t>
            </a:r>
            <a:endParaRPr lang="en-US" sz="1050" dirty="0"/>
          </a:p>
        </p:txBody>
      </p:sp>
      <p:sp>
        <p:nvSpPr>
          <p:cNvPr id="45" name="Text 33"/>
          <p:cNvSpPr/>
          <p:nvPr/>
        </p:nvSpPr>
        <p:spPr>
          <a:xfrm>
            <a:off x="9509760" y="37033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T1543.002 evidence in Splunk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B1B33"/>
          </a:solidFill>
          <a:ln/>
        </p:spPr>
      </p:sp>
      <p:sp>
        <p:nvSpPr>
          <p:cNvPr id="47" name="Shape 35"/>
          <p:cNvSpPr/>
          <p:nvPr/>
        </p:nvSpPr>
        <p:spPr>
          <a:xfrm>
            <a:off x="777240" y="4736592"/>
            <a:ext cx="502920" cy="50292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99" y="4867351"/>
            <a:ext cx="241402" cy="24140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463040" y="47091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operational lesson: warp-svc log noise</a:t>
            </a:r>
            <a:endParaRPr lang="en-US" sz="1300" dirty="0"/>
          </a:p>
        </p:txBody>
      </p:sp>
      <p:sp>
        <p:nvSpPr>
          <p:cNvPr id="50" name="Text 37"/>
          <p:cNvSpPr/>
          <p:nvPr/>
        </p:nvSpPr>
        <p:spPr>
          <a:xfrm>
            <a:off x="1463040" y="5029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WARP daemon on appserver-vm generates large diagnostic payloads not covered by the current VRL noise filter — consuming Splunk ingestion budget without security value. Lesson: extend the noise filter to include appname == 'warp-svc'.</a:t>
            </a:r>
            <a:endParaRPr lang="en-US" sz="1050" dirty="0"/>
          </a:p>
        </p:txBody>
      </p:sp>
      <p:sp>
        <p:nvSpPr>
          <p:cNvPr id="51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52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SP 800-207 Principles &amp; Key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Applied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20824"/>
            <a:ext cx="82296" cy="8229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implicit trust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pass Cloudflare → Traefik → Authelia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82296" cy="8229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Per-session access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required; 8h max, 30m inactivity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82296" cy="8229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358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Dynamic policy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geo &amp; posture evaluated per request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82296" cy="8229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0273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Continuous monitoring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Splunk real-time across all zones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82296" cy="8229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96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Least privilege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between zones; undeclared routes blocked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 at a Glance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03911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55080" y="251460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machines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7690104" y="196596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35824" y="203911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735824" y="251460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9070848" y="196596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9116568" y="203911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16568" y="251460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/ trust zones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10451592" y="196596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26" name="Text 24"/>
          <p:cNvSpPr/>
          <p:nvPr/>
        </p:nvSpPr>
        <p:spPr>
          <a:xfrm>
            <a:off x="10497312" y="203911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0497312" y="251460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309360" y="301752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09067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355080" y="356616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reduction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7690104" y="301752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32" name="Text 30"/>
          <p:cNvSpPr/>
          <p:nvPr/>
        </p:nvSpPr>
        <p:spPr>
          <a:xfrm>
            <a:off x="7735824" y="309067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735824" y="356616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techniques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9070848" y="301752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35" name="Text 33"/>
          <p:cNvSpPr/>
          <p:nvPr/>
        </p:nvSpPr>
        <p:spPr>
          <a:xfrm>
            <a:off x="9116568" y="309067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116568" y="356616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10451592" y="3017520"/>
            <a:ext cx="1289304" cy="960120"/>
          </a:xfrm>
          <a:prstGeom prst="roundRect">
            <a:avLst>
              <a:gd name="adj" fmla="val 5714"/>
            </a:avLst>
          </a:prstGeom>
          <a:solidFill>
            <a:srgbClr val="0B1B33"/>
          </a:solidFill>
          <a:ln/>
        </p:spPr>
      </p:sp>
      <p:sp>
        <p:nvSpPr>
          <p:cNvPr id="38" name="Text 36"/>
          <p:cNvSpPr/>
          <p:nvPr/>
        </p:nvSpPr>
        <p:spPr>
          <a:xfrm>
            <a:off x="10497312" y="3090672"/>
            <a:ext cx="119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10497312" y="356616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379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EDR/XDR platform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2194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visibility relies on auditd + rsyslog only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0116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8379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Linux-only environment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49440" y="2194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NTLM, Kerberos remain untested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999232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3192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455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SOAR automation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25880" y="350215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 is manual; no auto-containment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72200" y="2999232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4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3200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3192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1455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Free ingestion cap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49440" y="350215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MB/day constrains retention &amp; high-volume tests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306824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4F7FB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4507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62686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4531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are prototypes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25880" y="480974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tuned against sustained production-volume data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4306824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4F7FB"/>
          </a:solidFill>
          <a:ln/>
        </p:spPr>
      </p:sp>
      <p:sp>
        <p:nvSpPr>
          <p:cNvPr id="30" name="Shape 23"/>
          <p:cNvSpPr/>
          <p:nvPr/>
        </p:nvSpPr>
        <p:spPr>
          <a:xfrm>
            <a:off x="6355080" y="4507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62686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44531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trust concentration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949440" y="480974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enforcement depends on Cloudflare account integrity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Engineering Domains, One Coherent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17071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636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Network Architecture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zones enforced at the firewall, not assumed from position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167128"/>
            <a:ext cx="411480" cy="4114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5" y="2274113"/>
            <a:ext cx="197510" cy="1975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305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Identity &amp; Access Control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enforcement chain validated independently at each layer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734056"/>
            <a:ext cx="411480" cy="4114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2841041"/>
            <a:ext cx="197510" cy="1975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974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Telemetry Engineering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sources normalized, filtered, delivered encrypted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300984"/>
            <a:ext cx="411480" cy="4114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5" y="3407969"/>
            <a:ext cx="197510" cy="1975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2644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Detection Design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rules against structured fields, not raw text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867912"/>
            <a:ext cx="411480" cy="4114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5" y="3974897"/>
            <a:ext cx="197510" cy="19751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83133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Operational Troubleshooting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diagnosis of silent multi-component failures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548640" y="44348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is necessary but insufficient alone — the system's coherence depends on the correct integration of all layers together.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498080" y="16002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3284A"/>
          </a:solidFill>
          <a:ln/>
        </p:spPr>
      </p:sp>
      <p:sp>
        <p:nvSpPr>
          <p:cNvPr id="21" name="Text 14"/>
          <p:cNvSpPr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7724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Splunk 9.3.2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772400" y="2532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Vector 0.55.0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772400" y="2825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Traefik v2.11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772400" y="3118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Authelia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77240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pfSense 2.7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7724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Suricata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772400" y="3995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Cloudflare Zero Trust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772400" y="4288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772400" y="45811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Ubuntu 22.04/24.04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772400" y="4873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Kali Linux 2024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7724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VirtualBox / Win11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0E3D3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3319272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319125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UF on services-vm for Docker visibility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1248" y="4032504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3904488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across all VMs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" y="4745736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461772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abuse.ch C2 blocklist refresh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17373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0B1B33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720" y="2011680"/>
            <a:ext cx="548640" cy="54864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15432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36008" y="3319272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9" name="Text 15"/>
          <p:cNvSpPr/>
          <p:nvPr/>
        </p:nvSpPr>
        <p:spPr>
          <a:xfrm>
            <a:off x="4818888" y="319125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VM for AD scenarios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36008" y="4032504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1" name="Text 17"/>
          <p:cNvSpPr/>
          <p:nvPr/>
        </p:nvSpPr>
        <p:spPr>
          <a:xfrm>
            <a:off x="4818888" y="3904488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SPL library w/ ATT&amp;CK heatmap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36008" y="4745736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3" name="Text 19"/>
          <p:cNvSpPr/>
          <p:nvPr/>
        </p:nvSpPr>
        <p:spPr>
          <a:xfrm>
            <a:off x="4818888" y="461772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per-app access policy docs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138160" y="17373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2B1E45"/>
          </a:solidFill>
          <a:ln/>
        </p:spPr>
      </p:sp>
      <p:sp>
        <p:nvSpPr>
          <p:cNvPr id="25" name="Shape 21"/>
          <p:cNvSpPr/>
          <p:nvPr/>
        </p:nvSpPr>
        <p:spPr>
          <a:xfrm>
            <a:off x="8412480" y="2011680"/>
            <a:ext cx="548640" cy="54864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154326"/>
            <a:ext cx="263347" cy="26334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1248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430768" y="3319272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9" name="Text 24"/>
          <p:cNvSpPr/>
          <p:nvPr/>
        </p:nvSpPr>
        <p:spPr>
          <a:xfrm>
            <a:off x="8613648" y="3191256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Splunk Free with Elastic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430768" y="4032504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31" name="Text 26"/>
          <p:cNvSpPr/>
          <p:nvPr/>
        </p:nvSpPr>
        <p:spPr>
          <a:xfrm>
            <a:off x="8613648" y="3904488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integration (n8n / Shuffle)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430768" y="4745736"/>
            <a:ext cx="64008" cy="6400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33" name="Text 28"/>
          <p:cNvSpPr/>
          <p:nvPr/>
        </p:nvSpPr>
        <p:spPr>
          <a:xfrm>
            <a:off x="8613648" y="461772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detection rule tuning at scale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Lab — Graduation Project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28600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554480"/>
            <a:ext cx="822960" cy="82296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966" y="17684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974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4805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Lab — Information Security Analyst (GIZA_ISS6_S1)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Abdel-Nasser Rady · Mohamed Mamdouh · Donia Abd Elnasser Mohamed · Hoda Khaled Essam Eldin Mansour · Ali Ashraf Ali Mehanna · Mohamed Adel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5349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Eng. Mohamed Seed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Architecture Lab</dc:title>
  <dc:subject>PptxGenJS Presentation</dc:subject>
  <dc:creator>ZTA Lab Team</dc:creator>
  <cp:lastModifiedBy>ZTA Lab Team</cp:lastModifiedBy>
  <cp:revision>1</cp:revision>
  <dcterms:created xsi:type="dcterms:W3CDTF">2026-07-01T18:18:34Z</dcterms:created>
  <dcterms:modified xsi:type="dcterms:W3CDTF">2026-07-01T18:18:34Z</dcterms:modified>
</cp:coreProperties>
</file>